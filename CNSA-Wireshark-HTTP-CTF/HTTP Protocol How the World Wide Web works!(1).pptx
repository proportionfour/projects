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Roboto ExtraBold"/>
      <p:bold r:id="rId45"/>
      <p:boldItalic r:id="rId46"/>
    </p:embeddedFont>
    <p:embeddedFont>
      <p:font typeface="Lexend ExtraBold"/>
      <p:bold r:id="rId47"/>
    </p:embeddedFont>
    <p:embeddedFont>
      <p:font typeface="Roboto Medium"/>
      <p:regular r:id="rId48"/>
      <p:bold r:id="rId49"/>
      <p:italic r:id="rId50"/>
      <p:boldItalic r:id="rId51"/>
    </p:embeddedFont>
    <p:embeddedFont>
      <p:font typeface="Lexend Medium"/>
      <p:regular r:id="rId52"/>
      <p:bold r:id="rId53"/>
    </p:embeddedFont>
    <p:embeddedFont>
      <p:font typeface="Space Grotesk Light"/>
      <p:regular r:id="rId54"/>
      <p:bold r:id="rId55"/>
    </p:embeddedFont>
    <p:embeddedFont>
      <p:font typeface="Roboto SemiBold"/>
      <p:regular r:id="rId56"/>
      <p:bold r:id="rId57"/>
      <p:italic r:id="rId58"/>
      <p:boldItalic r:id="rId59"/>
    </p:embeddedFont>
    <p:embeddedFont>
      <p:font typeface="Oswald SemiBold"/>
      <p:regular r:id="rId60"/>
      <p:bold r:id="rId61"/>
    </p:embeddedFont>
    <p:embeddedFont>
      <p:font typeface="Lexend"/>
      <p:regular r:id="rId62"/>
      <p:bold r:id="rId63"/>
    </p:embeddedFont>
    <p:embeddedFont>
      <p:font typeface="Space Grotesk"/>
      <p:regular r:id="rId64"/>
      <p:bold r:id="rId65"/>
    </p:embeddedFont>
    <p:embeddedFont>
      <p:font typeface="Lexend SemiBold"/>
      <p:regular r:id="rId66"/>
      <p:bold r:id="rId67"/>
    </p:embeddedFont>
    <p:embeddedFont>
      <p:font typeface="Roboto"/>
      <p:regular r:id="rId68"/>
      <p:bold r:id="rId69"/>
      <p:italic r:id="rId70"/>
      <p:boldItalic r:id="rId71"/>
    </p:embeddedFont>
    <p:embeddedFont>
      <p:font typeface="Merriweather Medium"/>
      <p:regular r:id="rId72"/>
      <p:bold r:id="rId73"/>
      <p:italic r:id="rId74"/>
      <p:boldItalic r:id="rId75"/>
    </p:embeddedFont>
    <p:embeddedFont>
      <p:font typeface="Merriweather SemiBold"/>
      <p:regular r:id="rId76"/>
      <p:bold r:id="rId77"/>
      <p:italic r:id="rId78"/>
      <p:boldItalic r:id="rId79"/>
    </p:embeddedFont>
    <p:embeddedFont>
      <p:font typeface="Merriweather"/>
      <p:regular r:id="rId80"/>
      <p:bold r:id="rId81"/>
      <p:italic r:id="rId82"/>
      <p:boldItalic r:id="rId83"/>
    </p:embeddedFont>
    <p:embeddedFont>
      <p:font typeface="Merriweather ExtraBold"/>
      <p:bold r:id="rId84"/>
      <p:boldItalic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5207A3-7511-4F56-8A4A-290256EC4015}">
  <a:tblStyle styleId="{A05207A3-7511-4F56-8A4A-290256EC40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MerriweatherExtraBold-bold.fntdata"/><Relationship Id="rId83" Type="http://schemas.openxmlformats.org/officeDocument/2006/relationships/font" Target="fonts/Merriweather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schemas.openxmlformats.org/officeDocument/2006/relationships/font" Target="fonts/MerriweatherExtraBold-boldItalic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obotoExtraBold-boldItalic.fntdata"/><Relationship Id="rId45" Type="http://schemas.openxmlformats.org/officeDocument/2006/relationships/font" Target="fonts/RobotoExtraBold-bold.fntdata"/><Relationship Id="rId80" Type="http://schemas.openxmlformats.org/officeDocument/2006/relationships/font" Target="fonts/Merriweather-regular.fntdata"/><Relationship Id="rId82" Type="http://schemas.openxmlformats.org/officeDocument/2006/relationships/font" Target="fonts/Merriweather-italic.fntdata"/><Relationship Id="rId81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edium-regular.fntdata"/><Relationship Id="rId47" Type="http://schemas.openxmlformats.org/officeDocument/2006/relationships/font" Target="fonts/LexendExtraBold-bold.fntdata"/><Relationship Id="rId49" Type="http://schemas.openxmlformats.org/officeDocument/2006/relationships/font" Target="fonts/Roboto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MerriweatherMedium-bold.fntdata"/><Relationship Id="rId72" Type="http://schemas.openxmlformats.org/officeDocument/2006/relationships/font" Target="fonts/MerriweatherMedium-regular.fntdata"/><Relationship Id="rId31" Type="http://schemas.openxmlformats.org/officeDocument/2006/relationships/slide" Target="slides/slide25.xml"/><Relationship Id="rId75" Type="http://schemas.openxmlformats.org/officeDocument/2006/relationships/font" Target="fonts/MerriweatherMedium-boldItalic.fntdata"/><Relationship Id="rId30" Type="http://schemas.openxmlformats.org/officeDocument/2006/relationships/slide" Target="slides/slide24.xml"/><Relationship Id="rId74" Type="http://schemas.openxmlformats.org/officeDocument/2006/relationships/font" Target="fonts/MerriweatherMedium-italic.fntdata"/><Relationship Id="rId33" Type="http://schemas.openxmlformats.org/officeDocument/2006/relationships/slide" Target="slides/slide27.xml"/><Relationship Id="rId77" Type="http://schemas.openxmlformats.org/officeDocument/2006/relationships/font" Target="fonts/MerriweatherSemiBold-bold.fntdata"/><Relationship Id="rId32" Type="http://schemas.openxmlformats.org/officeDocument/2006/relationships/slide" Target="slides/slide26.xml"/><Relationship Id="rId76" Type="http://schemas.openxmlformats.org/officeDocument/2006/relationships/font" Target="fonts/MerriweatherSemiBold-regular.fntdata"/><Relationship Id="rId35" Type="http://schemas.openxmlformats.org/officeDocument/2006/relationships/slide" Target="slides/slide29.xml"/><Relationship Id="rId79" Type="http://schemas.openxmlformats.org/officeDocument/2006/relationships/font" Target="fonts/MerriweatherSemiBold-boldItalic.fntdata"/><Relationship Id="rId34" Type="http://schemas.openxmlformats.org/officeDocument/2006/relationships/slide" Target="slides/slide28.xml"/><Relationship Id="rId78" Type="http://schemas.openxmlformats.org/officeDocument/2006/relationships/font" Target="fonts/MerriweatherSemiBold-italic.fntdata"/><Relationship Id="rId71" Type="http://schemas.openxmlformats.org/officeDocument/2006/relationships/font" Target="fonts/Roboto-boldItalic.fntdata"/><Relationship Id="rId70" Type="http://schemas.openxmlformats.org/officeDocument/2006/relationships/font" Target="fonts/Roboto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Lexend-regular.fntdata"/><Relationship Id="rId61" Type="http://schemas.openxmlformats.org/officeDocument/2006/relationships/font" Target="fonts/OswaldSemiBold-bold.fntdata"/><Relationship Id="rId20" Type="http://schemas.openxmlformats.org/officeDocument/2006/relationships/slide" Target="slides/slide14.xml"/><Relationship Id="rId64" Type="http://schemas.openxmlformats.org/officeDocument/2006/relationships/font" Target="fonts/SpaceGrotesk-regular.fntdata"/><Relationship Id="rId63" Type="http://schemas.openxmlformats.org/officeDocument/2006/relationships/font" Target="fonts/Lexend-bold.fntdata"/><Relationship Id="rId22" Type="http://schemas.openxmlformats.org/officeDocument/2006/relationships/slide" Target="slides/slide16.xml"/><Relationship Id="rId66" Type="http://schemas.openxmlformats.org/officeDocument/2006/relationships/font" Target="fonts/LexendSemiBold-regular.fntdata"/><Relationship Id="rId21" Type="http://schemas.openxmlformats.org/officeDocument/2006/relationships/slide" Target="slides/slide15.xml"/><Relationship Id="rId65" Type="http://schemas.openxmlformats.org/officeDocument/2006/relationships/font" Target="fonts/SpaceGrotesk-bold.fntdata"/><Relationship Id="rId24" Type="http://schemas.openxmlformats.org/officeDocument/2006/relationships/slide" Target="slides/slide18.xml"/><Relationship Id="rId68" Type="http://schemas.openxmlformats.org/officeDocument/2006/relationships/font" Target="fonts/Roboto-regular.fntdata"/><Relationship Id="rId23" Type="http://schemas.openxmlformats.org/officeDocument/2006/relationships/slide" Target="slides/slide17.xml"/><Relationship Id="rId67" Type="http://schemas.openxmlformats.org/officeDocument/2006/relationships/font" Target="fonts/LexendSemiBold-bold.fntdata"/><Relationship Id="rId60" Type="http://schemas.openxmlformats.org/officeDocument/2006/relationships/font" Target="fonts/OswaldSemiBold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edium-boldItalic.fntdata"/><Relationship Id="rId50" Type="http://schemas.openxmlformats.org/officeDocument/2006/relationships/font" Target="fonts/RobotoMedium-italic.fntdata"/><Relationship Id="rId53" Type="http://schemas.openxmlformats.org/officeDocument/2006/relationships/font" Target="fonts/LexendMedium-bold.fntdata"/><Relationship Id="rId52" Type="http://schemas.openxmlformats.org/officeDocument/2006/relationships/font" Target="fonts/LexendMedium-regular.fntdata"/><Relationship Id="rId11" Type="http://schemas.openxmlformats.org/officeDocument/2006/relationships/slide" Target="slides/slide5.xml"/><Relationship Id="rId55" Type="http://schemas.openxmlformats.org/officeDocument/2006/relationships/font" Target="fonts/SpaceGroteskLight-bold.fntdata"/><Relationship Id="rId10" Type="http://schemas.openxmlformats.org/officeDocument/2006/relationships/slide" Target="slides/slide4.xml"/><Relationship Id="rId54" Type="http://schemas.openxmlformats.org/officeDocument/2006/relationships/font" Target="fonts/SpaceGroteskLight-regular.fntdata"/><Relationship Id="rId13" Type="http://schemas.openxmlformats.org/officeDocument/2006/relationships/slide" Target="slides/slide7.xml"/><Relationship Id="rId57" Type="http://schemas.openxmlformats.org/officeDocument/2006/relationships/font" Target="fonts/RobotoSemiBold-bold.fntdata"/><Relationship Id="rId12" Type="http://schemas.openxmlformats.org/officeDocument/2006/relationships/slide" Target="slides/slide6.xml"/><Relationship Id="rId56" Type="http://schemas.openxmlformats.org/officeDocument/2006/relationships/font" Target="fonts/RobotoSemiBold-regular.fntdata"/><Relationship Id="rId15" Type="http://schemas.openxmlformats.org/officeDocument/2006/relationships/slide" Target="slides/slide9.xml"/><Relationship Id="rId59" Type="http://schemas.openxmlformats.org/officeDocument/2006/relationships/font" Target="fonts/RobotoSemiBold-boldItalic.fntdata"/><Relationship Id="rId14" Type="http://schemas.openxmlformats.org/officeDocument/2006/relationships/slide" Target="slides/slide8.xml"/><Relationship Id="rId58" Type="http://schemas.openxmlformats.org/officeDocument/2006/relationships/font" Target="fonts/RobotoSemiBol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ceb7b6e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ceb7b6e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ceb7b6e8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9ceb7b6e8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19dcd93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19dcd93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19dcd931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a19dcd931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19dcd931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19dcd931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19dcd931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a19dcd931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ceb7b6e8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9ceb7b6e8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Standardized method of communication over the internet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ceb7b6e8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ceb7b6e8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ceb7b6e8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9ceb7b6e8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ceb7b6e8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ceb7b6e8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ceb7b6e8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9ceb7b6e8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9ceb7b6e88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9ceb7b6e88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de812dd8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9de812dd8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de812dd8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9de812dd8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9de812dd8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9de812dd8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9de812dd8e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9de812dd8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9de812dd8e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9de812dd8e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19dcd931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19dcd931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de812dd8e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9de812dd8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9ceb7b6e88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9ceb7b6e8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9de812dd8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9de812dd8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9de812dd8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9de812dd8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2nd: Don’t Expect all http request to look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3rd: This is why https encrypts all this information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9de812dd8e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9de812dd8e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2nd: Don’t Expect all http request to look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3rd: This is why https encrypts all this information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98543249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98543249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Request Methods are automatically </a:t>
            </a:r>
            <a:r>
              <a:rPr lang="en"/>
              <a:t>configured</a:t>
            </a:r>
            <a:r>
              <a:rPr lang="en"/>
              <a:t> depending on what you are trying to do on the website.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2252adcd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a2252adc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9e06b411d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9e06b411d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2nd: Don’t Expect all http request to look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3rd: This is why https encrypts all this information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98543249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98543249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2nd: Don’t Expect all http request to look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3rd: This is why https encrypts all this information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19dcd931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a19dcd931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a19dcd931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a19dcd931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98543249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98543249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2nd: Don’t Expect all http request to look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3rd: This is why https encrypts all this information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98543249f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98543249f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Request Methods are automatically configured depending on what you are trying to do on the website.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a2252adcd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a2252adcd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98543249f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98543249f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2nd: Don’t Expect all http request to look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3rd: This is why https encrypts all this information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9de812dd8e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9de812dd8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987bea37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987bea37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2nd: Don’t Expect all http request to look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3rd: This is why https encrypts all this information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a19dcd931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a19dcd931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2nd: Don’t Expect all http request to look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3rd: This is why https encrypts all this information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9ceb7b6e88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9ceb7b6e88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Plans for participation: Have 3 easy flags one </a:t>
            </a:r>
            <a:r>
              <a:rPr lang="en"/>
              <a:t>mystery</a:t>
            </a:r>
            <a:r>
              <a:rPr lang="en"/>
              <a:t> optional one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9ceb7b6e88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9ceb7b6e88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Relationship Id="rId4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Relationship Id="rId4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Relationship Id="rId4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8689200" cy="13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Protocol</a:t>
            </a:r>
            <a:endParaRPr>
              <a:solidFill>
                <a:srgbClr val="FFFFFF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latin typeface="Merriweather SemiBold"/>
                <a:ea typeface="Merriweather SemiBold"/>
                <a:cs typeface="Merriweather SemiBold"/>
                <a:sym typeface="Merriweather SemiBold"/>
              </a:rPr>
              <a:t>How the World Wide Web works!</a:t>
            </a:r>
            <a:endParaRPr sz="4300"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320" name="Google Shape;320;p38"/>
          <p:cNvSpPr txBox="1"/>
          <p:nvPr>
            <p:ph idx="2" type="title"/>
          </p:nvPr>
        </p:nvSpPr>
        <p:spPr>
          <a:xfrm>
            <a:off x="1418475" y="2779650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CNSA Week 7</a:t>
            </a:r>
            <a:endParaRPr/>
          </a:p>
        </p:txBody>
      </p:sp>
      <p:pic>
        <p:nvPicPr>
          <p:cNvPr descr="World wide web - Free web icons" id="321" name="Google Shape;3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49" y="1757424"/>
            <a:ext cx="2580675" cy="25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/>
          <p:nvPr>
            <p:ph idx="2" type="subTitle"/>
          </p:nvPr>
        </p:nvSpPr>
        <p:spPr>
          <a:xfrm>
            <a:off x="479760" y="1516323"/>
            <a:ext cx="4400700" cy="216300"/>
          </a:xfrm>
          <a:prstGeom prst="rect">
            <a:avLst/>
          </a:prstGeom>
        </p:spPr>
        <p:txBody>
          <a:bodyPr anchorCtr="0" anchor="ctr" bIns="142750" lIns="142750" spcFirstLastPara="1" rIns="142750" wrap="square" tIns="142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61"/>
              <a:t>Introduction</a:t>
            </a:r>
            <a:endParaRPr sz="2861"/>
          </a:p>
        </p:txBody>
      </p:sp>
      <p:sp>
        <p:nvSpPr>
          <p:cNvPr id="327" name="Google Shape;327;p39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AGENDA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328" name="Google Shape;328;p39"/>
          <p:cNvSpPr txBox="1"/>
          <p:nvPr>
            <p:ph idx="4" type="subTitle"/>
          </p:nvPr>
        </p:nvSpPr>
        <p:spPr>
          <a:xfrm>
            <a:off x="-8252" y="1289102"/>
            <a:ext cx="541200" cy="196200"/>
          </a:xfrm>
          <a:prstGeom prst="rect">
            <a:avLst/>
          </a:prstGeom>
        </p:spPr>
        <p:txBody>
          <a:bodyPr anchorCtr="0" anchor="t" bIns="142750" lIns="142750" spcFirstLastPara="1" rIns="142750" wrap="square" tIns="142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1"/>
              <a:t>1.</a:t>
            </a:r>
            <a:endParaRPr sz="2861"/>
          </a:p>
        </p:txBody>
      </p:sp>
      <p:sp>
        <p:nvSpPr>
          <p:cNvPr id="329" name="Google Shape;329;p39"/>
          <p:cNvSpPr txBox="1"/>
          <p:nvPr>
            <p:ph idx="8" type="subTitle"/>
          </p:nvPr>
        </p:nvSpPr>
        <p:spPr>
          <a:xfrm>
            <a:off x="392860" y="4234366"/>
            <a:ext cx="4400700" cy="216300"/>
          </a:xfrm>
          <a:prstGeom prst="rect">
            <a:avLst/>
          </a:prstGeom>
        </p:spPr>
        <p:txBody>
          <a:bodyPr anchorCtr="0" anchor="ctr" bIns="142750" lIns="142750" spcFirstLastPara="1" rIns="142750" wrap="square" tIns="142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61"/>
              <a:t>What is HTTP?</a:t>
            </a:r>
            <a:endParaRPr sz="2861"/>
          </a:p>
        </p:txBody>
      </p:sp>
      <p:sp>
        <p:nvSpPr>
          <p:cNvPr id="330" name="Google Shape;330;p39"/>
          <p:cNvSpPr txBox="1"/>
          <p:nvPr>
            <p:ph idx="13" type="subTitle"/>
          </p:nvPr>
        </p:nvSpPr>
        <p:spPr>
          <a:xfrm>
            <a:off x="-8256" y="3982074"/>
            <a:ext cx="919500" cy="141000"/>
          </a:xfrm>
          <a:prstGeom prst="rect">
            <a:avLst/>
          </a:prstGeom>
        </p:spPr>
        <p:txBody>
          <a:bodyPr anchorCtr="0" anchor="t" bIns="142750" lIns="142750" spcFirstLastPara="1" rIns="142750" wrap="square" tIns="142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1"/>
              <a:t>3.</a:t>
            </a:r>
            <a:endParaRPr sz="2861"/>
          </a:p>
        </p:txBody>
      </p:sp>
      <p:sp>
        <p:nvSpPr>
          <p:cNvPr id="331" name="Google Shape;331;p39"/>
          <p:cNvSpPr txBox="1"/>
          <p:nvPr>
            <p:ph idx="14" type="subTitle"/>
          </p:nvPr>
        </p:nvSpPr>
        <p:spPr>
          <a:xfrm>
            <a:off x="5747490" y="4234366"/>
            <a:ext cx="4400700" cy="216300"/>
          </a:xfrm>
          <a:prstGeom prst="rect">
            <a:avLst/>
          </a:prstGeom>
        </p:spPr>
        <p:txBody>
          <a:bodyPr anchorCtr="0" anchor="ctr" bIns="142750" lIns="142750" spcFirstLastPara="1" rIns="142750" wrap="square" tIns="142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61"/>
              <a:t>Attendance</a:t>
            </a:r>
            <a:endParaRPr sz="2261"/>
          </a:p>
        </p:txBody>
      </p:sp>
      <p:sp>
        <p:nvSpPr>
          <p:cNvPr id="332" name="Google Shape;332;p39"/>
          <p:cNvSpPr txBox="1"/>
          <p:nvPr>
            <p:ph idx="17" type="subTitle"/>
          </p:nvPr>
        </p:nvSpPr>
        <p:spPr>
          <a:xfrm>
            <a:off x="5259468" y="3982074"/>
            <a:ext cx="709800" cy="172800"/>
          </a:xfrm>
          <a:prstGeom prst="rect">
            <a:avLst/>
          </a:prstGeom>
        </p:spPr>
        <p:txBody>
          <a:bodyPr anchorCtr="0" anchor="t" bIns="142750" lIns="142750" spcFirstLastPara="1" rIns="142750" wrap="square" tIns="142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1"/>
              <a:t>6</a:t>
            </a:r>
            <a:endParaRPr sz="2661"/>
          </a:p>
        </p:txBody>
      </p:sp>
      <p:sp>
        <p:nvSpPr>
          <p:cNvPr id="333" name="Google Shape;333;p39"/>
          <p:cNvSpPr txBox="1"/>
          <p:nvPr>
            <p:ph idx="5" type="subTitle"/>
          </p:nvPr>
        </p:nvSpPr>
        <p:spPr>
          <a:xfrm>
            <a:off x="5747490" y="1534628"/>
            <a:ext cx="4400700" cy="216300"/>
          </a:xfrm>
          <a:prstGeom prst="rect">
            <a:avLst/>
          </a:prstGeom>
        </p:spPr>
        <p:txBody>
          <a:bodyPr anchorCtr="0" anchor="ctr" bIns="142750" lIns="142750" spcFirstLastPara="1" rIns="142750" wrap="square" tIns="142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61"/>
              <a:t>Headers and Requests</a:t>
            </a:r>
            <a:endParaRPr sz="2261"/>
          </a:p>
        </p:txBody>
      </p:sp>
      <p:sp>
        <p:nvSpPr>
          <p:cNvPr id="334" name="Google Shape;334;p39"/>
          <p:cNvSpPr txBox="1"/>
          <p:nvPr>
            <p:ph idx="7" type="subTitle"/>
          </p:nvPr>
        </p:nvSpPr>
        <p:spPr>
          <a:xfrm>
            <a:off x="5259464" y="1289099"/>
            <a:ext cx="827100" cy="172800"/>
          </a:xfrm>
          <a:prstGeom prst="rect">
            <a:avLst/>
          </a:prstGeom>
        </p:spPr>
        <p:txBody>
          <a:bodyPr anchorCtr="0" anchor="t" bIns="142750" lIns="142750" spcFirstLastPara="1" rIns="142750" wrap="square" tIns="142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1"/>
              <a:t>4.</a:t>
            </a:r>
            <a:endParaRPr sz="2861"/>
          </a:p>
        </p:txBody>
      </p:sp>
      <p:sp>
        <p:nvSpPr>
          <p:cNvPr id="335" name="Google Shape;335;p39"/>
          <p:cNvSpPr txBox="1"/>
          <p:nvPr>
            <p:ph idx="18" type="subTitle"/>
          </p:nvPr>
        </p:nvSpPr>
        <p:spPr>
          <a:xfrm>
            <a:off x="479760" y="2905674"/>
            <a:ext cx="4400700" cy="216300"/>
          </a:xfrm>
          <a:prstGeom prst="rect">
            <a:avLst/>
          </a:prstGeom>
        </p:spPr>
        <p:txBody>
          <a:bodyPr anchorCtr="0" anchor="ctr" bIns="142750" lIns="142750" spcFirstLastPara="1" rIns="142750" wrap="square" tIns="142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61"/>
              <a:t>Intro to TCP &amp; 3-way Handshake</a:t>
            </a:r>
            <a:endParaRPr sz="2061"/>
          </a:p>
        </p:txBody>
      </p:sp>
      <p:sp>
        <p:nvSpPr>
          <p:cNvPr id="336" name="Google Shape;336;p39"/>
          <p:cNvSpPr txBox="1"/>
          <p:nvPr>
            <p:ph idx="1" type="subTitle"/>
          </p:nvPr>
        </p:nvSpPr>
        <p:spPr>
          <a:xfrm>
            <a:off x="-8254" y="2635572"/>
            <a:ext cx="709800" cy="216300"/>
          </a:xfrm>
          <a:prstGeom prst="rect">
            <a:avLst/>
          </a:prstGeom>
        </p:spPr>
        <p:txBody>
          <a:bodyPr anchorCtr="0" anchor="t" bIns="142750" lIns="142750" spcFirstLastPara="1" rIns="142750" wrap="square" tIns="142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1"/>
              <a:t>2.</a:t>
            </a:r>
            <a:endParaRPr sz="2861"/>
          </a:p>
        </p:txBody>
      </p:sp>
      <p:sp>
        <p:nvSpPr>
          <p:cNvPr id="337" name="Google Shape;337;p39"/>
          <p:cNvSpPr txBox="1"/>
          <p:nvPr>
            <p:ph idx="20" type="subTitle"/>
          </p:nvPr>
        </p:nvSpPr>
        <p:spPr>
          <a:xfrm>
            <a:off x="5747490" y="2905666"/>
            <a:ext cx="4400700" cy="216300"/>
          </a:xfrm>
          <a:prstGeom prst="rect">
            <a:avLst/>
          </a:prstGeom>
        </p:spPr>
        <p:txBody>
          <a:bodyPr anchorCtr="0" anchor="ctr" bIns="142750" lIns="142750" spcFirstLastPara="1" rIns="142750" wrap="square" tIns="142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61"/>
              <a:t>WireShark CTF</a:t>
            </a:r>
            <a:endParaRPr sz="2261"/>
          </a:p>
        </p:txBody>
      </p:sp>
      <p:sp>
        <p:nvSpPr>
          <p:cNvPr id="338" name="Google Shape;338;p39"/>
          <p:cNvSpPr txBox="1"/>
          <p:nvPr>
            <p:ph idx="16" type="subTitle"/>
          </p:nvPr>
        </p:nvSpPr>
        <p:spPr>
          <a:xfrm>
            <a:off x="5259469" y="2635572"/>
            <a:ext cx="631200" cy="216300"/>
          </a:xfrm>
          <a:prstGeom prst="rect">
            <a:avLst/>
          </a:prstGeom>
        </p:spPr>
        <p:txBody>
          <a:bodyPr anchorCtr="0" anchor="t" bIns="142750" lIns="142750" spcFirstLastPara="1" rIns="142750" wrap="square" tIns="142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1"/>
              <a:t>5.</a:t>
            </a:r>
            <a:endParaRPr sz="286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0"/>
          <p:cNvSpPr txBox="1"/>
          <p:nvPr/>
        </p:nvSpPr>
        <p:spPr>
          <a:xfrm>
            <a:off x="1111800" y="1737325"/>
            <a:ext cx="6920400" cy="15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1</a:t>
            </a:r>
            <a:r>
              <a:rPr lang="en" sz="620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. Introduction</a:t>
            </a:r>
            <a:endParaRPr sz="6200">
              <a:solidFill>
                <a:schemeClr val="lt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/>
          <p:nvPr>
            <p:ph type="title"/>
          </p:nvPr>
        </p:nvSpPr>
        <p:spPr>
          <a:xfrm>
            <a:off x="212450" y="177900"/>
            <a:ext cx="8536800" cy="3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erriweather SemiBold"/>
                <a:ea typeface="Merriweather SemiBold"/>
                <a:cs typeface="Merriweather SemiBold"/>
                <a:sym typeface="Merriweather SemiBold"/>
              </a:rPr>
              <a:t>A bit about myself…</a:t>
            </a:r>
            <a:endParaRPr sz="2800"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349" name="Google Shape;349;p41"/>
          <p:cNvSpPr txBox="1"/>
          <p:nvPr/>
        </p:nvSpPr>
        <p:spPr>
          <a:xfrm>
            <a:off x="241450" y="892925"/>
            <a:ext cx="8523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●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Name : Diego Hernandez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●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2nd Year Computer Science B.S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●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Certifications: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-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ISC2 CC (Certified in CyberSecurity)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-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INE eJPT (Junior Penetration Tester)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-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CompTIA ITF+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-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INE ICCA (Certified Cloud Associate)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pic>
        <p:nvPicPr>
          <p:cNvPr id="350" name="Google Shape;350;p41" title="IMG_125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8696" y="959213"/>
            <a:ext cx="2418824" cy="3225073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 txBox="1"/>
          <p:nvPr>
            <p:ph type="title"/>
          </p:nvPr>
        </p:nvSpPr>
        <p:spPr>
          <a:xfrm>
            <a:off x="212450" y="177900"/>
            <a:ext cx="8536800" cy="3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erriweather SemiBold"/>
                <a:ea typeface="Merriweather SemiBold"/>
                <a:cs typeface="Merriweather SemiBold"/>
                <a:sym typeface="Merriweather SemiBold"/>
              </a:rPr>
              <a:t>Why should you know HTTP?</a:t>
            </a:r>
            <a:endParaRPr sz="2800"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356" name="Google Shape;356;p42"/>
          <p:cNvSpPr txBox="1"/>
          <p:nvPr/>
        </p:nvSpPr>
        <p:spPr>
          <a:xfrm>
            <a:off x="218900" y="920250"/>
            <a:ext cx="85239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●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Web Development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pic>
        <p:nvPicPr>
          <p:cNvPr descr="❓ Red Question Mark Emoji: Meaning &amp; Usage" id="357" name="Google Shape;35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1550" y="974950"/>
            <a:ext cx="2872225" cy="28722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2"/>
          <p:cNvSpPr txBox="1"/>
          <p:nvPr/>
        </p:nvSpPr>
        <p:spPr>
          <a:xfrm>
            <a:off x="216403" y="1304996"/>
            <a:ext cx="85239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●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Cyber Security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359" name="Google Shape;359;p42"/>
          <p:cNvSpPr txBox="1"/>
          <p:nvPr/>
        </p:nvSpPr>
        <p:spPr>
          <a:xfrm>
            <a:off x="216403" y="1712521"/>
            <a:ext cx="85239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●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Software Developer (API)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360" name="Google Shape;360;p42"/>
          <p:cNvSpPr txBox="1"/>
          <p:nvPr/>
        </p:nvSpPr>
        <p:spPr>
          <a:xfrm>
            <a:off x="218461" y="2042597"/>
            <a:ext cx="85239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●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Network</a:t>
            </a: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 Engineer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361" name="Google Shape;361;p42"/>
          <p:cNvSpPr txBox="1"/>
          <p:nvPr/>
        </p:nvSpPr>
        <p:spPr>
          <a:xfrm>
            <a:off x="220520" y="2363562"/>
            <a:ext cx="85239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erriweather SemiBold"/>
              <a:buChar char="●"/>
            </a:pPr>
            <a:r>
              <a:rPr lang="en" sz="21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Cloud Engineer</a:t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 txBox="1"/>
          <p:nvPr/>
        </p:nvSpPr>
        <p:spPr>
          <a:xfrm>
            <a:off x="1111800" y="1737325"/>
            <a:ext cx="6920400" cy="15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2</a:t>
            </a:r>
            <a:r>
              <a:rPr lang="en" sz="550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. Intro to TCP &amp; 3-way Handshake</a:t>
            </a:r>
            <a:endParaRPr sz="5500">
              <a:solidFill>
                <a:schemeClr val="lt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/>
          <p:nvPr>
            <p:ph type="title"/>
          </p:nvPr>
        </p:nvSpPr>
        <p:spPr>
          <a:xfrm>
            <a:off x="212450" y="177900"/>
            <a:ext cx="57894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Transmission Control Protocol TCP/IP </a:t>
            </a:r>
            <a:endParaRPr>
              <a:latin typeface="Merriweather Medium"/>
              <a:ea typeface="Merriweather Medium"/>
              <a:cs typeface="Merriweather Medium"/>
              <a:sym typeface="Merriweath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4"/>
          <p:cNvSpPr txBox="1"/>
          <p:nvPr>
            <p:ph idx="1" type="body"/>
          </p:nvPr>
        </p:nvSpPr>
        <p:spPr>
          <a:xfrm>
            <a:off x="162850" y="1363625"/>
            <a:ext cx="49041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Network Model developed by the Department of Defense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Connection based, meaning that it must establish a connection and maintain with server it until it’s done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Uses a three-way handshake to 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establish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 a connection between client (you) and server (anything you’re connecting to)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3" name="Google Shape;373;p44"/>
          <p:cNvSpPr/>
          <p:nvPr/>
        </p:nvSpPr>
        <p:spPr>
          <a:xfrm>
            <a:off x="5337350" y="730375"/>
            <a:ext cx="3578100" cy="1352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Merriweather SemiBold"/>
                <a:ea typeface="Merriweather SemiBold"/>
                <a:cs typeface="Merriweather SemiBold"/>
                <a:sym typeface="Merriweather SemiBold"/>
              </a:rPr>
              <a:t>Application Layer</a:t>
            </a:r>
            <a:endParaRPr sz="2600"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374" name="Google Shape;374;p44"/>
          <p:cNvSpPr/>
          <p:nvPr/>
        </p:nvSpPr>
        <p:spPr>
          <a:xfrm>
            <a:off x="5337300" y="2082775"/>
            <a:ext cx="3578100" cy="6132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Merriweather Medium"/>
                <a:ea typeface="Merriweather Medium"/>
                <a:cs typeface="Merriweather Medium"/>
                <a:sym typeface="Merriweather Medium"/>
              </a:rPr>
              <a:t>Transport Layer</a:t>
            </a:r>
            <a:endParaRPr sz="2600"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sp>
        <p:nvSpPr>
          <p:cNvPr id="375" name="Google Shape;375;p44"/>
          <p:cNvSpPr/>
          <p:nvPr/>
        </p:nvSpPr>
        <p:spPr>
          <a:xfrm>
            <a:off x="5337350" y="2695975"/>
            <a:ext cx="3578100" cy="613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Merriweather Medium"/>
                <a:ea typeface="Merriweather Medium"/>
                <a:cs typeface="Merriweather Medium"/>
                <a:sym typeface="Merriweather Medium"/>
              </a:rPr>
              <a:t>Network </a:t>
            </a:r>
            <a:r>
              <a:rPr lang="en" sz="2600">
                <a:latin typeface="Merriweather Medium"/>
                <a:ea typeface="Merriweather Medium"/>
                <a:cs typeface="Merriweather Medium"/>
                <a:sym typeface="Merriweather Medium"/>
              </a:rPr>
              <a:t>Layer</a:t>
            </a:r>
            <a:endParaRPr sz="2600"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sp>
        <p:nvSpPr>
          <p:cNvPr id="376" name="Google Shape;376;p44"/>
          <p:cNvSpPr/>
          <p:nvPr/>
        </p:nvSpPr>
        <p:spPr>
          <a:xfrm>
            <a:off x="5337350" y="3309175"/>
            <a:ext cx="3578100" cy="7254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erriweather Medium"/>
                <a:ea typeface="Merriweather Medium"/>
                <a:cs typeface="Merriweather Medium"/>
                <a:sym typeface="Merriweather Medium"/>
              </a:rPr>
              <a:t>Network Access </a:t>
            </a:r>
            <a:r>
              <a:rPr lang="en" sz="2500">
                <a:latin typeface="Merriweather Medium"/>
                <a:ea typeface="Merriweather Medium"/>
                <a:cs typeface="Merriweather Medium"/>
                <a:sym typeface="Merriweather Medium"/>
              </a:rPr>
              <a:t>Layer</a:t>
            </a:r>
            <a:endParaRPr sz="2500"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3-way Handshake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45"/>
          <p:cNvSpPr txBox="1"/>
          <p:nvPr>
            <p:ph idx="1" type="body"/>
          </p:nvPr>
        </p:nvSpPr>
        <p:spPr>
          <a:xfrm>
            <a:off x="278800" y="2114025"/>
            <a:ext cx="8830800" cy="17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latin typeface="Merriweather"/>
                <a:ea typeface="Merriweather"/>
                <a:cs typeface="Merriweather"/>
                <a:sym typeface="Merriweather"/>
              </a:rPr>
              <a:t>Flags: </a:t>
            </a:r>
            <a:endParaRPr sz="1900" u="sng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SYN - Client sends a SYN (Synchronize) packet to the server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SYNACK - Server responds with a SYNACK (Synchronize-Acknowledge)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ACK - Client sends an ACK (Acknowledge) packet back to the server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83" name="Google Shape;383;p45"/>
          <p:cNvSpPr txBox="1"/>
          <p:nvPr>
            <p:ph idx="1" type="body"/>
          </p:nvPr>
        </p:nvSpPr>
        <p:spPr>
          <a:xfrm>
            <a:off x="278800" y="819000"/>
            <a:ext cx="5958000" cy="13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process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 used to establish a reliable connection before data transmission. It utilizes three flags.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84" name="Google Shape;384;p45"/>
          <p:cNvSpPr txBox="1"/>
          <p:nvPr/>
        </p:nvSpPr>
        <p:spPr>
          <a:xfrm>
            <a:off x="278800" y="3899775"/>
            <a:ext cx="8615100" cy="1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Now Data Transfer can </a:t>
            </a:r>
            <a:r>
              <a:rPr lang="en" sz="43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Begin!</a:t>
            </a:r>
            <a:endParaRPr sz="43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"/>
          <p:cNvSpPr txBox="1"/>
          <p:nvPr/>
        </p:nvSpPr>
        <p:spPr>
          <a:xfrm>
            <a:off x="1442850" y="1242450"/>
            <a:ext cx="15897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{SYN}</a:t>
            </a:r>
            <a:endParaRPr sz="20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390" name="Google Shape;390;p46"/>
          <p:cNvSpPr txBox="1"/>
          <p:nvPr/>
        </p:nvSpPr>
        <p:spPr>
          <a:xfrm>
            <a:off x="5763475" y="1997250"/>
            <a:ext cx="15897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{SYNACK}</a:t>
            </a:r>
            <a:endParaRPr sz="20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391" name="Google Shape;391;p46"/>
          <p:cNvSpPr txBox="1"/>
          <p:nvPr/>
        </p:nvSpPr>
        <p:spPr>
          <a:xfrm>
            <a:off x="1442840" y="3458900"/>
            <a:ext cx="15897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{ACK}</a:t>
            </a:r>
            <a:endParaRPr sz="20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cxnSp>
        <p:nvCxnSpPr>
          <p:cNvPr id="392" name="Google Shape;392;p46"/>
          <p:cNvCxnSpPr/>
          <p:nvPr/>
        </p:nvCxnSpPr>
        <p:spPr>
          <a:xfrm>
            <a:off x="2484900" y="1576450"/>
            <a:ext cx="2979300" cy="561000"/>
          </a:xfrm>
          <a:prstGeom prst="straightConnector1">
            <a:avLst/>
          </a:prstGeom>
          <a:noFill/>
          <a:ln cap="flat" cmpd="sng" w="7620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46"/>
          <p:cNvCxnSpPr/>
          <p:nvPr/>
        </p:nvCxnSpPr>
        <p:spPr>
          <a:xfrm flipH="1">
            <a:off x="2484000" y="2463650"/>
            <a:ext cx="2980200" cy="1129200"/>
          </a:xfrm>
          <a:prstGeom prst="straightConnector1">
            <a:avLst/>
          </a:prstGeom>
          <a:noFill/>
          <a:ln cap="flat" cmpd="sng" w="7620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4" name="Google Shape;394;p46"/>
          <p:cNvSpPr txBox="1"/>
          <p:nvPr/>
        </p:nvSpPr>
        <p:spPr>
          <a:xfrm>
            <a:off x="574475" y="334000"/>
            <a:ext cx="6613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3-way Handshake</a:t>
            </a:r>
            <a:endParaRPr b="1" sz="23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Computer - Free vector clipart images on creazilla.com" id="395" name="Google Shape;39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345" y="1446475"/>
            <a:ext cx="2998975" cy="225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e clip art &quot;Database server&quot; by lyte" id="396" name="Google Shape;39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625" y="1446475"/>
            <a:ext cx="1953925" cy="2408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7" name="Google Shape;397;p46"/>
          <p:cNvCxnSpPr/>
          <p:nvPr/>
        </p:nvCxnSpPr>
        <p:spPr>
          <a:xfrm flipH="1" rot="10800000">
            <a:off x="2524950" y="3489150"/>
            <a:ext cx="3732000" cy="366300"/>
          </a:xfrm>
          <a:prstGeom prst="straightConnector1">
            <a:avLst/>
          </a:prstGeom>
          <a:noFill/>
          <a:ln cap="flat" cmpd="sng" w="7620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7"/>
          <p:cNvSpPr txBox="1"/>
          <p:nvPr/>
        </p:nvSpPr>
        <p:spPr>
          <a:xfrm>
            <a:off x="902400" y="1810200"/>
            <a:ext cx="7339200" cy="15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3. What is HTTP?</a:t>
            </a:r>
            <a:endParaRPr b="1" sz="6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8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8" name="Google Shape;408;p48"/>
          <p:cNvSpPr txBox="1"/>
          <p:nvPr>
            <p:ph type="title"/>
          </p:nvPr>
        </p:nvSpPr>
        <p:spPr>
          <a:xfrm>
            <a:off x="212450" y="177900"/>
            <a:ext cx="85368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The </a:t>
            </a:r>
            <a:r>
              <a:rPr b="1" lang="en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H</a:t>
            </a:r>
            <a:r>
              <a:rPr lang="en">
                <a:solidFill>
                  <a:schemeClr val="accent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yper</a:t>
            </a:r>
            <a:r>
              <a:rPr b="1" lang="en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T</a:t>
            </a:r>
            <a:r>
              <a:rPr lang="en">
                <a:solidFill>
                  <a:schemeClr val="accent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ext </a:t>
            </a:r>
            <a:r>
              <a:rPr b="1" lang="en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T</a:t>
            </a:r>
            <a:r>
              <a:rPr lang="en">
                <a:solidFill>
                  <a:schemeClr val="accent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ransfer </a:t>
            </a:r>
            <a:r>
              <a:rPr b="1" lang="en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P</a:t>
            </a:r>
            <a:r>
              <a:rPr lang="en">
                <a:solidFill>
                  <a:schemeClr val="accent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rotocol (HTTP) </a:t>
            </a:r>
            <a:r>
              <a:rPr lang="en">
                <a:solidFill>
                  <a:schemeClr val="accent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is….</a:t>
            </a:r>
            <a:endParaRPr>
              <a:solidFill>
                <a:schemeClr val="accent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409" name="Google Shape;409;p48"/>
          <p:cNvSpPr txBox="1"/>
          <p:nvPr/>
        </p:nvSpPr>
        <p:spPr>
          <a:xfrm>
            <a:off x="157875" y="1527275"/>
            <a:ext cx="85368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rriweather SemiBold"/>
              <a:buChar char="●"/>
            </a:pPr>
            <a:r>
              <a:rPr lang="en" sz="24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A protocol that runs over TCP</a:t>
            </a:r>
            <a:endParaRPr sz="24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rriweather SemiBold"/>
              <a:buChar char="●"/>
            </a:pPr>
            <a:r>
              <a:rPr lang="en" sz="24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A service that runs on port 80</a:t>
            </a:r>
            <a:endParaRPr sz="24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rriweather SemiBold"/>
              <a:buChar char="●"/>
            </a:pPr>
            <a:r>
              <a:rPr lang="en" sz="24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Meant for communication between a web browser and a web server</a:t>
            </a:r>
            <a:endParaRPr sz="24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rriweather SemiBold"/>
              <a:buChar char="●"/>
            </a:pPr>
            <a:r>
              <a:rPr lang="en" sz="24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Available</a:t>
            </a:r>
            <a:r>
              <a:rPr lang="en" sz="24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 in different versions (1.0, 1.1, 2 ,3)</a:t>
            </a:r>
            <a:endParaRPr sz="24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rriweather SemiBold"/>
              <a:buChar char="●"/>
            </a:pPr>
            <a:r>
              <a:rPr lang="en" sz="24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Communicated with formatted </a:t>
            </a:r>
            <a:r>
              <a:rPr lang="en" sz="2400" u="sng">
                <a:solidFill>
                  <a:schemeClr val="lt1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requests</a:t>
            </a:r>
            <a:r>
              <a:rPr lang="en" sz="24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 and </a:t>
            </a:r>
            <a:r>
              <a:rPr b="1" lang="en" sz="2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responses</a:t>
            </a:r>
            <a:endParaRPr b="1" sz="2400" u="sng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Faster HTTP/2 internet protocol approved" id="410" name="Google Shape;41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200" y="697025"/>
            <a:ext cx="2674925" cy="150465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9"/>
          <p:cNvSpPr txBox="1"/>
          <p:nvPr>
            <p:ph type="title"/>
          </p:nvPr>
        </p:nvSpPr>
        <p:spPr>
          <a:xfrm>
            <a:off x="212450" y="177900"/>
            <a:ext cx="7870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How HTTP </a:t>
            </a: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communication</a:t>
            </a: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 works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416" name="Google Shape;416;p49"/>
          <p:cNvSpPr txBox="1"/>
          <p:nvPr/>
        </p:nvSpPr>
        <p:spPr>
          <a:xfrm>
            <a:off x="267200" y="1162302"/>
            <a:ext cx="85368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27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Merriweather SemiBold"/>
              <a:buAutoNum type="arabicPeriod"/>
            </a:pPr>
            <a:r>
              <a:rPr lang="en" sz="4700" u="sng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Client HTTP Requests</a:t>
            </a:r>
            <a:endParaRPr sz="4700" u="sng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00" u="sng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527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Merriweather SemiBold"/>
              <a:buAutoNum type="arabicPeriod"/>
            </a:pPr>
            <a:r>
              <a:rPr lang="en" sz="4700" u="sng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Server HTTP Responses</a:t>
            </a:r>
            <a:endParaRPr sz="4700" u="sng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0"/>
          <p:cNvSpPr txBox="1"/>
          <p:nvPr>
            <p:ph type="title"/>
          </p:nvPr>
        </p:nvSpPr>
        <p:spPr>
          <a:xfrm>
            <a:off x="212450" y="177900"/>
            <a:ext cx="893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How HTTP Communication Works</a:t>
            </a:r>
            <a:endParaRPr>
              <a:solidFill>
                <a:schemeClr val="dk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422" name="Google Shape;422;p50"/>
          <p:cNvSpPr txBox="1"/>
          <p:nvPr>
            <p:ph idx="2" type="subTitle"/>
          </p:nvPr>
        </p:nvSpPr>
        <p:spPr>
          <a:xfrm>
            <a:off x="230434" y="881700"/>
            <a:ext cx="6447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ree Computer Cartoon Png, Download Free Computer Cartoon Png png images,  Free ClipArts on Clipart Library" id="423" name="Google Shape;42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50" y="2037369"/>
            <a:ext cx="2485868" cy="2205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er clipart Vectors - Download Free High-Quality Vectors from Freepik |  Freepik" id="424" name="Google Shape;42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838200" y="2037372"/>
            <a:ext cx="2358999" cy="2358999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/>
          <p:nvPr/>
        </p:nvSpPr>
        <p:spPr>
          <a:xfrm>
            <a:off x="320622" y="4341925"/>
            <a:ext cx="32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CLIENT (Us)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26" name="Google Shape;426;p50"/>
          <p:cNvSpPr txBox="1"/>
          <p:nvPr/>
        </p:nvSpPr>
        <p:spPr>
          <a:xfrm>
            <a:off x="5721772" y="4341925"/>
            <a:ext cx="32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Web Server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27" name="Google Shape;427;p50"/>
          <p:cNvSpPr/>
          <p:nvPr/>
        </p:nvSpPr>
        <p:spPr>
          <a:xfrm flipH="1">
            <a:off x="2971304" y="2770934"/>
            <a:ext cx="2982900" cy="102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SemiBold"/>
                <a:ea typeface="Lexend SemiBold"/>
                <a:cs typeface="Lexend SemiBold"/>
                <a:sym typeface="Lexend SemiBold"/>
              </a:rPr>
              <a:t>{SYNACK}</a:t>
            </a:r>
            <a:endParaRPr sz="26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28" name="Google Shape;428;p50"/>
          <p:cNvSpPr txBox="1"/>
          <p:nvPr/>
        </p:nvSpPr>
        <p:spPr>
          <a:xfrm>
            <a:off x="200400" y="761500"/>
            <a:ext cx="85635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"/>
              <a:buAutoNum type="arabicPeriod"/>
            </a:pPr>
            <a:r>
              <a:rPr b="1"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3-way Handshake</a:t>
            </a:r>
            <a:endParaRPr b="1"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50"/>
          <p:cNvSpPr/>
          <p:nvPr/>
        </p:nvSpPr>
        <p:spPr>
          <a:xfrm rot="-5400000">
            <a:off x="4151622" y="3577040"/>
            <a:ext cx="480900" cy="2625300"/>
          </a:xfrm>
          <a:prstGeom prst="leftBrace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50"/>
          <p:cNvSpPr/>
          <p:nvPr/>
        </p:nvSpPr>
        <p:spPr>
          <a:xfrm flipH="1" rot="-5400000">
            <a:off x="4151622" y="249272"/>
            <a:ext cx="480900" cy="2625300"/>
          </a:xfrm>
          <a:prstGeom prst="leftBrace">
            <a:avLst>
              <a:gd fmla="val 50000" name="adj1"/>
              <a:gd fmla="val 50000" name="adj2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50"/>
          <p:cNvSpPr/>
          <p:nvPr/>
        </p:nvSpPr>
        <p:spPr>
          <a:xfrm>
            <a:off x="2971297" y="3680697"/>
            <a:ext cx="2982900" cy="102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SemiBold"/>
                <a:ea typeface="Lexend SemiBold"/>
                <a:cs typeface="Lexend SemiBold"/>
                <a:sym typeface="Lexend SemiBold"/>
              </a:rPr>
              <a:t>{ACK}</a:t>
            </a:r>
            <a:endParaRPr sz="26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32" name="Google Shape;432;p50"/>
          <p:cNvSpPr/>
          <p:nvPr/>
        </p:nvSpPr>
        <p:spPr>
          <a:xfrm>
            <a:off x="2976747" y="1734317"/>
            <a:ext cx="2982900" cy="102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SemiBold"/>
                <a:ea typeface="Lexend SemiBold"/>
                <a:cs typeface="Lexend SemiBold"/>
                <a:sym typeface="Lexend SemiBold"/>
              </a:rPr>
              <a:t>{SYN}</a:t>
            </a:r>
            <a:endParaRPr sz="26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1"/>
          <p:cNvSpPr txBox="1"/>
          <p:nvPr>
            <p:ph type="title"/>
          </p:nvPr>
        </p:nvSpPr>
        <p:spPr>
          <a:xfrm>
            <a:off x="212450" y="177900"/>
            <a:ext cx="893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How HTTP Communication Works</a:t>
            </a:r>
            <a:endParaRPr>
              <a:solidFill>
                <a:schemeClr val="dk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438" name="Google Shape;438;p51"/>
          <p:cNvSpPr txBox="1"/>
          <p:nvPr>
            <p:ph idx="2" type="subTitle"/>
          </p:nvPr>
        </p:nvSpPr>
        <p:spPr>
          <a:xfrm>
            <a:off x="230434" y="881700"/>
            <a:ext cx="6447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ree Computer Cartoon Png, Download Free Computer Cartoon Png png images,  Free ClipArts on Clipart Library" id="439" name="Google Shape;43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50" y="2037369"/>
            <a:ext cx="2485868" cy="2205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er clipart Vectors - Download Free High-Quality Vectors from Freepik |  Freepik" id="440" name="Google Shape;44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838200" y="2037372"/>
            <a:ext cx="2358999" cy="2358999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1"/>
          <p:cNvSpPr txBox="1"/>
          <p:nvPr/>
        </p:nvSpPr>
        <p:spPr>
          <a:xfrm>
            <a:off x="320622" y="4341925"/>
            <a:ext cx="32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CLIENT (Us)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42" name="Google Shape;442;p51"/>
          <p:cNvSpPr txBox="1"/>
          <p:nvPr/>
        </p:nvSpPr>
        <p:spPr>
          <a:xfrm>
            <a:off x="5721772" y="4341925"/>
            <a:ext cx="32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Web Server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43" name="Google Shape;443;p51"/>
          <p:cNvSpPr/>
          <p:nvPr/>
        </p:nvSpPr>
        <p:spPr>
          <a:xfrm>
            <a:off x="3080550" y="2419869"/>
            <a:ext cx="2982900" cy="161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SemiBold"/>
                <a:ea typeface="Lexend SemiBold"/>
                <a:cs typeface="Lexend SemiBold"/>
                <a:sym typeface="Lexend SemiBold"/>
              </a:rPr>
              <a:t>HTTP Request</a:t>
            </a:r>
            <a:endParaRPr sz="26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44" name="Google Shape;444;p51"/>
          <p:cNvSpPr txBox="1"/>
          <p:nvPr/>
        </p:nvSpPr>
        <p:spPr>
          <a:xfrm>
            <a:off x="200400" y="761500"/>
            <a:ext cx="85635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HTTP Request Packet is sent</a:t>
            </a:r>
            <a:endParaRPr b="1"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51"/>
          <p:cNvSpPr/>
          <p:nvPr/>
        </p:nvSpPr>
        <p:spPr>
          <a:xfrm flipH="1" rot="-5400000">
            <a:off x="4151622" y="249272"/>
            <a:ext cx="480900" cy="2625300"/>
          </a:xfrm>
          <a:prstGeom prst="leftBrace">
            <a:avLst>
              <a:gd fmla="val 50000" name="adj1"/>
              <a:gd fmla="val 50000" name="adj2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51"/>
          <p:cNvSpPr/>
          <p:nvPr/>
        </p:nvSpPr>
        <p:spPr>
          <a:xfrm rot="-5400000">
            <a:off x="4151622" y="3577040"/>
            <a:ext cx="480900" cy="2625300"/>
          </a:xfrm>
          <a:prstGeom prst="leftBrace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2"/>
          <p:cNvSpPr txBox="1"/>
          <p:nvPr>
            <p:ph type="title"/>
          </p:nvPr>
        </p:nvSpPr>
        <p:spPr>
          <a:xfrm>
            <a:off x="234573" y="177900"/>
            <a:ext cx="893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How HTTP Communication Works</a:t>
            </a:r>
            <a:endParaRPr>
              <a:solidFill>
                <a:schemeClr val="dk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452" name="Google Shape;452;p52"/>
          <p:cNvSpPr txBox="1"/>
          <p:nvPr>
            <p:ph idx="2" type="subTitle"/>
          </p:nvPr>
        </p:nvSpPr>
        <p:spPr>
          <a:xfrm>
            <a:off x="230434" y="881700"/>
            <a:ext cx="6447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ree Computer Cartoon Png, Download Free Computer Cartoon Png png images,  Free ClipArts on Clipart Library" id="453" name="Google Shape;45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50" y="2037369"/>
            <a:ext cx="2485868" cy="2205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er clipart Vectors - Download Free High-Quality Vectors from Freepik |  Freepik" id="454" name="Google Shape;45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838200" y="2037372"/>
            <a:ext cx="2358999" cy="235899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2"/>
          <p:cNvSpPr txBox="1"/>
          <p:nvPr/>
        </p:nvSpPr>
        <p:spPr>
          <a:xfrm>
            <a:off x="320622" y="4341925"/>
            <a:ext cx="32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CLIENT (Us)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56" name="Google Shape;456;p52"/>
          <p:cNvSpPr txBox="1"/>
          <p:nvPr/>
        </p:nvSpPr>
        <p:spPr>
          <a:xfrm>
            <a:off x="5721772" y="4341925"/>
            <a:ext cx="32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Web Server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57" name="Google Shape;457;p52"/>
          <p:cNvSpPr/>
          <p:nvPr/>
        </p:nvSpPr>
        <p:spPr>
          <a:xfrm flipH="1">
            <a:off x="2857050" y="2419875"/>
            <a:ext cx="3206400" cy="161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SemiBold"/>
                <a:ea typeface="Lexend SemiBold"/>
                <a:cs typeface="Lexend SemiBold"/>
                <a:sym typeface="Lexend SemiBold"/>
              </a:rPr>
              <a:t>HTTP Response</a:t>
            </a:r>
            <a:endParaRPr sz="26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58" name="Google Shape;458;p52"/>
          <p:cNvSpPr txBox="1"/>
          <p:nvPr/>
        </p:nvSpPr>
        <p:spPr>
          <a:xfrm>
            <a:off x="200400" y="761500"/>
            <a:ext cx="85635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HTTP Response From Server</a:t>
            </a:r>
            <a:endParaRPr b="1"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52"/>
          <p:cNvSpPr/>
          <p:nvPr/>
        </p:nvSpPr>
        <p:spPr>
          <a:xfrm flipH="1" rot="-5400000">
            <a:off x="4151622" y="249272"/>
            <a:ext cx="480900" cy="2625300"/>
          </a:xfrm>
          <a:prstGeom prst="leftBrace">
            <a:avLst>
              <a:gd fmla="val 50000" name="adj1"/>
              <a:gd fmla="val 50000" name="adj2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52"/>
          <p:cNvSpPr/>
          <p:nvPr/>
        </p:nvSpPr>
        <p:spPr>
          <a:xfrm rot="-5400000">
            <a:off x="4151622" y="3577040"/>
            <a:ext cx="480900" cy="2625300"/>
          </a:xfrm>
          <a:prstGeom prst="leftBrace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/>
          <p:nvPr>
            <p:ph type="title"/>
          </p:nvPr>
        </p:nvSpPr>
        <p:spPr>
          <a:xfrm>
            <a:off x="212450" y="177900"/>
            <a:ext cx="893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How HTTP Communication Works</a:t>
            </a:r>
            <a:endParaRPr>
              <a:solidFill>
                <a:schemeClr val="dk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466" name="Google Shape;466;p53"/>
          <p:cNvSpPr txBox="1"/>
          <p:nvPr>
            <p:ph idx="2" type="subTitle"/>
          </p:nvPr>
        </p:nvSpPr>
        <p:spPr>
          <a:xfrm>
            <a:off x="230434" y="881700"/>
            <a:ext cx="6447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ree Computer Cartoon Png, Download Free Computer Cartoon Png png images,  Free ClipArts on Clipart Library" id="467" name="Google Shape;46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50" y="2037369"/>
            <a:ext cx="2485868" cy="2205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er clipart Vectors - Download Free High-Quality Vectors from Freepik |  Freepik" id="468" name="Google Shape;46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838200" y="2037372"/>
            <a:ext cx="2358999" cy="2358999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3"/>
          <p:cNvSpPr txBox="1"/>
          <p:nvPr/>
        </p:nvSpPr>
        <p:spPr>
          <a:xfrm>
            <a:off x="320622" y="4341925"/>
            <a:ext cx="32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CLIENT (Us)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70" name="Google Shape;470;p53"/>
          <p:cNvSpPr txBox="1"/>
          <p:nvPr/>
        </p:nvSpPr>
        <p:spPr>
          <a:xfrm>
            <a:off x="5721772" y="4341925"/>
            <a:ext cx="32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Web Server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71" name="Google Shape;471;p53"/>
          <p:cNvSpPr/>
          <p:nvPr/>
        </p:nvSpPr>
        <p:spPr>
          <a:xfrm>
            <a:off x="3079425" y="2419875"/>
            <a:ext cx="2984100" cy="161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SemiBold"/>
                <a:ea typeface="Lexend SemiBold"/>
                <a:cs typeface="Lexend SemiBold"/>
                <a:sym typeface="Lexend SemiBold"/>
              </a:rPr>
              <a:t>{FIN}</a:t>
            </a:r>
            <a:endParaRPr sz="26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72" name="Google Shape;472;p53"/>
          <p:cNvSpPr txBox="1"/>
          <p:nvPr/>
        </p:nvSpPr>
        <p:spPr>
          <a:xfrm>
            <a:off x="200400" y="761500"/>
            <a:ext cx="85635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b="1"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Terminate Connection</a:t>
            </a:r>
            <a:endParaRPr b="1"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53"/>
          <p:cNvSpPr/>
          <p:nvPr/>
        </p:nvSpPr>
        <p:spPr>
          <a:xfrm flipH="1" rot="-5400000">
            <a:off x="4151622" y="249272"/>
            <a:ext cx="480900" cy="2625300"/>
          </a:xfrm>
          <a:prstGeom prst="leftBrace">
            <a:avLst>
              <a:gd fmla="val 50000" name="adj1"/>
              <a:gd fmla="val 50000" name="adj2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53"/>
          <p:cNvSpPr/>
          <p:nvPr/>
        </p:nvSpPr>
        <p:spPr>
          <a:xfrm rot="-5400000">
            <a:off x="4151622" y="3577040"/>
            <a:ext cx="480900" cy="2625300"/>
          </a:xfrm>
          <a:prstGeom prst="leftBrace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 txBox="1"/>
          <p:nvPr>
            <p:ph type="title"/>
          </p:nvPr>
        </p:nvSpPr>
        <p:spPr>
          <a:xfrm>
            <a:off x="212450" y="177900"/>
            <a:ext cx="893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What’s going on in step 2?</a:t>
            </a:r>
            <a:endParaRPr>
              <a:solidFill>
                <a:schemeClr val="dk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480" name="Google Shape;480;p54"/>
          <p:cNvSpPr txBox="1"/>
          <p:nvPr>
            <p:ph idx="2" type="subTitle"/>
          </p:nvPr>
        </p:nvSpPr>
        <p:spPr>
          <a:xfrm>
            <a:off x="230434" y="881700"/>
            <a:ext cx="6447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ree Computer Cartoon Png, Download Free Computer Cartoon Png png images,  Free ClipArts on Clipart Library" id="481" name="Google Shape;48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50" y="2037369"/>
            <a:ext cx="2485868" cy="2205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er clipart Vectors - Download Free High-Quality Vectors from Freepik |  Freepik" id="482" name="Google Shape;48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838200" y="2037372"/>
            <a:ext cx="2358999" cy="2358999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4"/>
          <p:cNvSpPr txBox="1"/>
          <p:nvPr/>
        </p:nvSpPr>
        <p:spPr>
          <a:xfrm>
            <a:off x="320622" y="4341925"/>
            <a:ext cx="32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CLIENT (Us)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84" name="Google Shape;484;p54"/>
          <p:cNvSpPr txBox="1"/>
          <p:nvPr/>
        </p:nvSpPr>
        <p:spPr>
          <a:xfrm>
            <a:off x="5721772" y="4341925"/>
            <a:ext cx="32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Web Server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85" name="Google Shape;485;p54"/>
          <p:cNvSpPr/>
          <p:nvPr/>
        </p:nvSpPr>
        <p:spPr>
          <a:xfrm>
            <a:off x="3080550" y="2419869"/>
            <a:ext cx="2982900" cy="161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exend SemiBold"/>
                <a:ea typeface="Lexend SemiBold"/>
                <a:cs typeface="Lexend SemiBold"/>
                <a:sym typeface="Lexend SemiBold"/>
              </a:rPr>
              <a:t>HTTP Request</a:t>
            </a:r>
            <a:endParaRPr sz="26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86" name="Google Shape;486;p54"/>
          <p:cNvSpPr txBox="1"/>
          <p:nvPr/>
        </p:nvSpPr>
        <p:spPr>
          <a:xfrm>
            <a:off x="200400" y="761500"/>
            <a:ext cx="85635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HTTP Request Packet is sent</a:t>
            </a:r>
            <a:endParaRPr b="1"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54"/>
          <p:cNvSpPr/>
          <p:nvPr/>
        </p:nvSpPr>
        <p:spPr>
          <a:xfrm flipH="1" rot="-5400000">
            <a:off x="4151622" y="249272"/>
            <a:ext cx="480900" cy="2625300"/>
          </a:xfrm>
          <a:prstGeom prst="leftBrace">
            <a:avLst>
              <a:gd fmla="val 50000" name="adj1"/>
              <a:gd fmla="val 50000" name="adj2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54"/>
          <p:cNvSpPr/>
          <p:nvPr/>
        </p:nvSpPr>
        <p:spPr>
          <a:xfrm rot="-5400000">
            <a:off x="4151622" y="3577040"/>
            <a:ext cx="480900" cy="2625300"/>
          </a:xfrm>
          <a:prstGeom prst="leftBrace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5"/>
          <p:cNvSpPr txBox="1"/>
          <p:nvPr/>
        </p:nvSpPr>
        <p:spPr>
          <a:xfrm>
            <a:off x="624600" y="1810200"/>
            <a:ext cx="7894800" cy="15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3. Headers &amp; Requests</a:t>
            </a:r>
            <a:endParaRPr b="1" sz="5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reshark Demystified: A Beginner's ..." id="498" name="Google Shape;49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293" y="3233063"/>
            <a:ext cx="3626200" cy="20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6"/>
          <p:cNvSpPr txBox="1"/>
          <p:nvPr>
            <p:ph type="title"/>
          </p:nvPr>
        </p:nvSpPr>
        <p:spPr>
          <a:xfrm>
            <a:off x="212450" y="177900"/>
            <a:ext cx="893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Let’s Investigate in WireShark</a:t>
            </a:r>
            <a:endParaRPr>
              <a:solidFill>
                <a:schemeClr val="dk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500" name="Google Shape;500;p56"/>
          <p:cNvSpPr txBox="1"/>
          <p:nvPr/>
        </p:nvSpPr>
        <p:spPr>
          <a:xfrm>
            <a:off x="212450" y="788225"/>
            <a:ext cx="6574200" cy="3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Let’s take a look at an HTTP packet captured on the network.</a:t>
            </a:r>
            <a:endParaRPr b="1" sz="2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Recall: </a:t>
            </a:r>
            <a:r>
              <a:rPr b="1" lang="en" sz="2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Wireshark</a:t>
            </a:r>
            <a:r>
              <a:rPr b="1" lang="en" sz="2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is known as a “packet sniffing” tool and it allows us to read individual network packets that are being sent/</a:t>
            </a:r>
            <a:r>
              <a:rPr b="1" lang="en" sz="2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received</a:t>
            </a:r>
            <a:r>
              <a:rPr b="1" lang="en" sz="2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in the local area </a:t>
            </a:r>
            <a:r>
              <a:rPr b="1" lang="en" sz="2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network.</a:t>
            </a:r>
            <a:endParaRPr b="1" sz="2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7" title="Screenshot from 2025-10-28 10-54-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7313"/>
            <a:ext cx="9144000" cy="4408862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7"/>
          <p:cNvSpPr/>
          <p:nvPr/>
        </p:nvSpPr>
        <p:spPr>
          <a:xfrm>
            <a:off x="-66799" y="1803557"/>
            <a:ext cx="2645100" cy="8151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57"/>
          <p:cNvSpPr/>
          <p:nvPr/>
        </p:nvSpPr>
        <p:spPr>
          <a:xfrm>
            <a:off x="2912425" y="1790200"/>
            <a:ext cx="1830300" cy="841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58" title="Screenshot from 2025-10-28 10-58-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6400"/>
            <a:ext cx="9143999" cy="364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9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Requests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518" name="Google Shape;518;p59"/>
          <p:cNvSpPr txBox="1"/>
          <p:nvPr>
            <p:ph idx="1" type="body"/>
          </p:nvPr>
        </p:nvSpPr>
        <p:spPr>
          <a:xfrm>
            <a:off x="228600" y="1343100"/>
            <a:ext cx="8014500" cy="32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Packets of data requesting information from a web server in order to build the website on the client side.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Can be formatted in a variety of ways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Can be utilized to enumerate information from client and server</a:t>
            </a:r>
            <a:endParaRPr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0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Requests Components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524" name="Google Shape;524;p60"/>
          <p:cNvSpPr/>
          <p:nvPr/>
        </p:nvSpPr>
        <p:spPr>
          <a:xfrm>
            <a:off x="6482900" y="-282450"/>
            <a:ext cx="2733480" cy="1990926"/>
          </a:xfrm>
          <a:prstGeom prst="irregularSeal1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60"/>
          <p:cNvSpPr txBox="1"/>
          <p:nvPr>
            <p:ph idx="1" type="body"/>
          </p:nvPr>
        </p:nvSpPr>
        <p:spPr>
          <a:xfrm>
            <a:off x="212450" y="1005950"/>
            <a:ext cx="8014500" cy="32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u="sng"/>
              <a:t>Request Line</a:t>
            </a:r>
            <a:endParaRPr b="1" sz="2800" u="sng"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First line of an HTTP Request and contains the following components: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HTTP Method (GET, POST, PUT, DELETE): Indicates the type of request being made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URI: The address of the data that the client </a:t>
            </a:r>
            <a:r>
              <a:rPr lang="en" sz="1800"/>
              <a:t>wants</a:t>
            </a:r>
            <a:r>
              <a:rPr lang="en" sz="1800"/>
              <a:t> to </a:t>
            </a:r>
            <a:r>
              <a:rPr lang="en" sz="1800"/>
              <a:t>access (Webpage, Image, Document etc.)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HTTP Version: The HTTP Version that is being used (1.0, 1.1, 2, 3)</a:t>
            </a:r>
            <a:endParaRPr sz="1800"/>
          </a:p>
        </p:txBody>
      </p:sp>
      <p:pic>
        <p:nvPicPr>
          <p:cNvPr descr="Free Computer Cartoon Png, Download Free Computer Cartoon Png png images,  Free ClipArts on Clipart Library" id="526" name="Google Shape;52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449" y="328451"/>
            <a:ext cx="810399" cy="7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1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Request Methods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graphicFrame>
        <p:nvGraphicFramePr>
          <p:cNvPr id="532" name="Google Shape;532;p61"/>
          <p:cNvGraphicFramePr/>
          <p:nvPr/>
        </p:nvGraphicFramePr>
        <p:xfrm>
          <a:off x="503738" y="82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{A05207A3-7511-4F56-8A4A-290256EC4015}</a:tableStyleId>
              </a:tblPr>
              <a:tblGrid>
                <a:gridCol w="1784425"/>
                <a:gridCol w="6352075"/>
              </a:tblGrid>
              <a:tr h="58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 ExtraBold"/>
                          <a:ea typeface="Lexend ExtraBold"/>
                          <a:cs typeface="Lexend ExtraBold"/>
                          <a:sym typeface="Lexend ExtraBold"/>
                        </a:rPr>
                        <a:t>Function</a:t>
                      </a:r>
                      <a:endParaRPr sz="1800">
                        <a:latin typeface="Lexend ExtraBold"/>
                        <a:ea typeface="Lexend ExtraBold"/>
                        <a:cs typeface="Lexend ExtraBold"/>
                        <a:sym typeface="Lexend Extra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GET</a:t>
                      </a:r>
                      <a:endParaRPr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Used to retrieve data from the server. Typically used when trying to load a webpage.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POST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Used to submit data to the server. Useful for login pages or creating accounts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PUT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Used to update or create a resource on the server at the URL. Intended for files uploads.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DELETE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Used to delete a resource on the server at the specified URL.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HEAD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Used to retrieve </a:t>
                      </a:r>
                      <a:r>
                        <a:rPr lang="en" sz="1200" u="sng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only</a:t>
                      </a: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 the response headers from the server. Typically GET retrieves both the response headers and body.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OPTIONS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Used to retrieve information about the request methods available for a specific resource.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897E"/>
            </a:gs>
            <a:gs pos="100000">
              <a:srgbClr val="01060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2"/>
          <p:cNvSpPr txBox="1"/>
          <p:nvPr>
            <p:ph idx="4" type="title"/>
          </p:nvPr>
        </p:nvSpPr>
        <p:spPr>
          <a:xfrm>
            <a:off x="212450" y="177900"/>
            <a:ext cx="8311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Request Packet (Request Line)</a:t>
            </a:r>
            <a:endParaRPr>
              <a:solidFill>
                <a:schemeClr val="accent6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pic>
        <p:nvPicPr>
          <p:cNvPr id="538" name="Google Shape;538;p62" title="Screenshot from 2025-10-28 10-58-34.png"/>
          <p:cNvPicPr preferRelativeResize="0"/>
          <p:nvPr/>
        </p:nvPicPr>
        <p:blipFill rotWithShape="1">
          <a:blip r:embed="rId3">
            <a:alphaModFix/>
          </a:blip>
          <a:srcRect b="68315" l="0" r="0" t="0"/>
          <a:stretch/>
        </p:blipFill>
        <p:spPr>
          <a:xfrm>
            <a:off x="0" y="1133325"/>
            <a:ext cx="9143999" cy="115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3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Requests Components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544" name="Google Shape;544;p63"/>
          <p:cNvSpPr txBox="1"/>
          <p:nvPr>
            <p:ph idx="1" type="body"/>
          </p:nvPr>
        </p:nvSpPr>
        <p:spPr>
          <a:xfrm>
            <a:off x="212450" y="1005950"/>
            <a:ext cx="8014500" cy="32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u="sng"/>
              <a:t>Request Headers</a:t>
            </a:r>
            <a:endParaRPr sz="1800"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Provide extra information about the requests and common ones include: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User-Agent: Information about the client’s web browser (browser type)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Host: Hostname of the server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Accept: The media types the client can handle in the response (HTML,JSON)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Authorization</a:t>
            </a:r>
            <a:r>
              <a:rPr lang="en" sz="1800"/>
              <a:t>: Credentials for authentication if needed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Cookies: Information stored on the client side that is sent to the server with each request</a:t>
            </a:r>
            <a:endParaRPr sz="1800"/>
          </a:p>
        </p:txBody>
      </p:sp>
      <p:sp>
        <p:nvSpPr>
          <p:cNvPr id="545" name="Google Shape;545;p63"/>
          <p:cNvSpPr/>
          <p:nvPr/>
        </p:nvSpPr>
        <p:spPr>
          <a:xfrm>
            <a:off x="6482900" y="-282450"/>
            <a:ext cx="2733480" cy="1990926"/>
          </a:xfrm>
          <a:prstGeom prst="irregularSeal1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Free Computer Cartoon Png, Download Free Computer Cartoon Png png images,  Free ClipArts on Clipart Library" id="546" name="Google Shape;54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449" y="328451"/>
            <a:ext cx="810399" cy="7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4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Requests Components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552" name="Google Shape;552;p64"/>
          <p:cNvSpPr txBox="1"/>
          <p:nvPr>
            <p:ph idx="1" type="body"/>
          </p:nvPr>
        </p:nvSpPr>
        <p:spPr>
          <a:xfrm>
            <a:off x="212450" y="1005950"/>
            <a:ext cx="8014500" cy="32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u="sng"/>
              <a:t>Request Body</a:t>
            </a:r>
            <a:endParaRPr sz="1800"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Some HTTP request methods allow additional data to be sent to the server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This part is optional in HTTP Requests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Put and Post are two methods that </a:t>
            </a:r>
            <a:r>
              <a:rPr lang="en" sz="1800"/>
              <a:t>generally include Request Bodies</a:t>
            </a:r>
            <a:endParaRPr sz="1800"/>
          </a:p>
        </p:txBody>
      </p:sp>
      <p:sp>
        <p:nvSpPr>
          <p:cNvPr id="553" name="Google Shape;553;p64"/>
          <p:cNvSpPr/>
          <p:nvPr/>
        </p:nvSpPr>
        <p:spPr>
          <a:xfrm>
            <a:off x="6482900" y="-282450"/>
            <a:ext cx="2733480" cy="1990926"/>
          </a:xfrm>
          <a:prstGeom prst="irregularSeal1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Free Computer Cartoon Png, Download Free Computer Cartoon Png png images,  Free ClipArts on Clipart Library" id="554" name="Google Shape;55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449" y="328451"/>
            <a:ext cx="810399" cy="7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897E"/>
            </a:gs>
            <a:gs pos="100000">
              <a:srgbClr val="01060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5"/>
          <p:cNvSpPr txBox="1"/>
          <p:nvPr>
            <p:ph idx="4" type="title"/>
          </p:nvPr>
        </p:nvSpPr>
        <p:spPr>
          <a:xfrm>
            <a:off x="212450" y="177900"/>
            <a:ext cx="8311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Request Packet (Headers &amp; Body)</a:t>
            </a:r>
            <a:endParaRPr>
              <a:solidFill>
                <a:schemeClr val="accent6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pic>
        <p:nvPicPr>
          <p:cNvPr id="560" name="Google Shape;560;p65" title="Screenshot from 2025-10-28 10-58-34.png"/>
          <p:cNvPicPr preferRelativeResize="0"/>
          <p:nvPr/>
        </p:nvPicPr>
        <p:blipFill rotWithShape="1">
          <a:blip r:embed="rId3">
            <a:alphaModFix/>
          </a:blip>
          <a:srcRect b="0" l="0" r="0" t="30686"/>
          <a:stretch/>
        </p:blipFill>
        <p:spPr>
          <a:xfrm>
            <a:off x="0" y="2236900"/>
            <a:ext cx="9143999" cy="252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65" title="Screenshot from 2025-10-28 10-58-34.png"/>
          <p:cNvPicPr preferRelativeResize="0"/>
          <p:nvPr/>
        </p:nvPicPr>
        <p:blipFill rotWithShape="1">
          <a:blip r:embed="rId3">
            <a:alphaModFix/>
          </a:blip>
          <a:srcRect b="68315" l="0" r="0" t="0"/>
          <a:stretch/>
        </p:blipFill>
        <p:spPr>
          <a:xfrm>
            <a:off x="0" y="1133325"/>
            <a:ext cx="9143999" cy="115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6"/>
          <p:cNvSpPr txBox="1"/>
          <p:nvPr/>
        </p:nvSpPr>
        <p:spPr>
          <a:xfrm>
            <a:off x="164450" y="1810200"/>
            <a:ext cx="8664600" cy="15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Now </a:t>
            </a:r>
            <a:r>
              <a:rPr b="1" lang="en" sz="4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let's</a:t>
            </a:r>
            <a:r>
              <a:rPr b="1" lang="en" sz="4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Take a look at the Responses</a:t>
            </a:r>
            <a:endParaRPr b="1" sz="43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7"/>
          <p:cNvSpPr/>
          <p:nvPr/>
        </p:nvSpPr>
        <p:spPr>
          <a:xfrm>
            <a:off x="6482900" y="-282450"/>
            <a:ext cx="2733480" cy="1990926"/>
          </a:xfrm>
          <a:prstGeom prst="irregularSeal1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67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Response Components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573" name="Google Shape;573;p67"/>
          <p:cNvSpPr txBox="1"/>
          <p:nvPr>
            <p:ph idx="1" type="body"/>
          </p:nvPr>
        </p:nvSpPr>
        <p:spPr>
          <a:xfrm>
            <a:off x="212450" y="1005950"/>
            <a:ext cx="8014500" cy="32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 u="sng"/>
              <a:t>Response Status-Line</a:t>
            </a:r>
            <a:endParaRPr sz="2400"/>
          </a:p>
          <a:p>
            <a:pPr indent="-393700" lvl="0" marL="457200" rtl="0" algn="l">
              <a:spcBef>
                <a:spcPts val="80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The first line in a response packet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Displays HTTP Version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Displays the HTTP </a:t>
            </a:r>
            <a:r>
              <a:rPr lang="en" sz="2600" u="sng"/>
              <a:t>Status Code</a:t>
            </a:r>
            <a:endParaRPr sz="2600" u="sng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 sz="2600" u="sng"/>
              <a:t>Ex: ( 200 OK )</a:t>
            </a:r>
            <a:endParaRPr sz="2600" u="sng"/>
          </a:p>
        </p:txBody>
      </p:sp>
      <p:pic>
        <p:nvPicPr>
          <p:cNvPr descr="Server clipart Vectors - Download Free High-Quality Vectors from Freepik |  Freepik" id="574" name="Google Shape;57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91325" y="354700"/>
            <a:ext cx="716625" cy="7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8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Common HTTP Status Codes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graphicFrame>
        <p:nvGraphicFramePr>
          <p:cNvPr id="580" name="Google Shape;580;p68"/>
          <p:cNvGraphicFramePr/>
          <p:nvPr/>
        </p:nvGraphicFramePr>
        <p:xfrm>
          <a:off x="439600" y="80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{A05207A3-7511-4F56-8A4A-290256EC4015}</a:tableStyleId>
              </a:tblPr>
              <a:tblGrid>
                <a:gridCol w="2647750"/>
                <a:gridCol w="5617025"/>
              </a:tblGrid>
              <a:tr h="32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Status Code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ExtraBold"/>
                          <a:ea typeface="Lexend ExtraBold"/>
                          <a:cs typeface="Lexend ExtraBold"/>
                          <a:sym typeface="Lexend ExtraBold"/>
                        </a:rPr>
                        <a:t>Definition</a:t>
                      </a:r>
                      <a:endParaRPr sz="1200">
                        <a:latin typeface="Lexend ExtraBold"/>
                        <a:ea typeface="Lexend ExtraBold"/>
                        <a:cs typeface="Lexend ExtraBold"/>
                        <a:sym typeface="Lexend ExtraBol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200 OK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The request was successful and the server returned requested data.</a:t>
                      </a:r>
                      <a:endParaRPr sz="10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301 Moved Permanently</a:t>
                      </a:r>
                      <a:endParaRPr sz="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The requested </a:t>
                      </a: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resource</a:t>
                      </a: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 has been moved to a new URL.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302 FOUND</a:t>
                      </a:r>
                      <a:endParaRPr sz="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The requested resource is temporarily moved, commonly used in redirections.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400 BAD REQUEST</a:t>
                      </a:r>
                      <a:endParaRPr sz="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Request </a:t>
                      </a: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cannot</a:t>
                      </a: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 be processed due to a client error.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401 UNAUTHORIZED</a:t>
                      </a:r>
                      <a:endParaRPr sz="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Authentication is required.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403 FORBIDDEN</a:t>
                      </a:r>
                      <a:endParaRPr sz="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The server </a:t>
                      </a: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received</a:t>
                      </a: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 the request but the client does not have the permission to access the data.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404 NOT FOUND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The requested resource could not be found</a:t>
                      </a:r>
                      <a:endParaRPr sz="10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500 INTERNAL SERVER ERROR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The Server encountered an error when trying to process the request.</a:t>
                      </a:r>
                      <a:endParaRPr sz="10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897E"/>
            </a:gs>
            <a:gs pos="100000">
              <a:srgbClr val="01060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9"/>
          <p:cNvSpPr txBox="1"/>
          <p:nvPr>
            <p:ph idx="4" type="title"/>
          </p:nvPr>
        </p:nvSpPr>
        <p:spPr>
          <a:xfrm>
            <a:off x="212450" y="177900"/>
            <a:ext cx="8311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Response Packet (Status Line)</a:t>
            </a:r>
            <a:endParaRPr>
              <a:solidFill>
                <a:schemeClr val="accent6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pic>
        <p:nvPicPr>
          <p:cNvPr id="586" name="Google Shape;586;p69" title="Screenshot from 2025-11-05 16-30-19.png"/>
          <p:cNvPicPr preferRelativeResize="0"/>
          <p:nvPr/>
        </p:nvPicPr>
        <p:blipFill rotWithShape="1">
          <a:blip r:embed="rId3">
            <a:alphaModFix/>
          </a:blip>
          <a:srcRect b="73979" l="0" r="41469" t="0"/>
          <a:stretch/>
        </p:blipFill>
        <p:spPr>
          <a:xfrm>
            <a:off x="743838" y="2178700"/>
            <a:ext cx="7656324" cy="12216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0"/>
          <p:cNvSpPr/>
          <p:nvPr/>
        </p:nvSpPr>
        <p:spPr>
          <a:xfrm>
            <a:off x="6482900" y="-282450"/>
            <a:ext cx="2733480" cy="1990926"/>
          </a:xfrm>
          <a:prstGeom prst="irregularSeal1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70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Response Components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593" name="Google Shape;593;p70"/>
          <p:cNvSpPr txBox="1"/>
          <p:nvPr>
            <p:ph idx="1" type="body"/>
          </p:nvPr>
        </p:nvSpPr>
        <p:spPr>
          <a:xfrm>
            <a:off x="212450" y="1005950"/>
            <a:ext cx="8014500" cy="32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u="sng"/>
              <a:t>Response Headers</a:t>
            </a:r>
            <a:endParaRPr sz="1800"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These provide additional information about the response similarly to request headers, common ones include: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Content-Type: The media type of the response content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Content-Length: The size of the response body in bytes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Set-Cookie: Used to set cookies on the client side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Server: States type of web server utilized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Date: Time the response was sent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4" name="Google Shape;594;p70"/>
          <p:cNvSpPr txBox="1"/>
          <p:nvPr/>
        </p:nvSpPr>
        <p:spPr>
          <a:xfrm>
            <a:off x="153225" y="3763100"/>
            <a:ext cx="80145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Can also include an optional </a:t>
            </a:r>
            <a:r>
              <a:rPr b="1" lang="en" sz="21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Response Body</a:t>
            </a:r>
            <a:endParaRPr b="1" sz="21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Server clipart Vectors - Download Free High-Quality Vectors from Freepik |  Freepik" id="595" name="Google Shape;59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91325" y="354700"/>
            <a:ext cx="716625" cy="7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897E"/>
            </a:gs>
            <a:gs pos="100000">
              <a:srgbClr val="01060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1"/>
          <p:cNvSpPr txBox="1"/>
          <p:nvPr>
            <p:ph idx="4" type="title"/>
          </p:nvPr>
        </p:nvSpPr>
        <p:spPr>
          <a:xfrm>
            <a:off x="212450" y="177900"/>
            <a:ext cx="8311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Response Packet (Headers &amp; Body)</a:t>
            </a:r>
            <a:endParaRPr>
              <a:solidFill>
                <a:schemeClr val="accent6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pic>
        <p:nvPicPr>
          <p:cNvPr id="601" name="Google Shape;601;p71" title="Screenshot from 2025-11-05 16-30-19.png"/>
          <p:cNvPicPr preferRelativeResize="0"/>
          <p:nvPr/>
        </p:nvPicPr>
        <p:blipFill rotWithShape="1">
          <a:blip r:embed="rId3">
            <a:alphaModFix/>
          </a:blip>
          <a:srcRect b="0" l="0" r="9256" t="25479"/>
          <a:stretch/>
        </p:blipFill>
        <p:spPr>
          <a:xfrm>
            <a:off x="5" y="1616282"/>
            <a:ext cx="9143999" cy="2695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2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Vs. HTTPS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607" name="Google Shape;607;p72"/>
          <p:cNvSpPr txBox="1"/>
          <p:nvPr>
            <p:ph idx="1" type="body"/>
          </p:nvPr>
        </p:nvSpPr>
        <p:spPr>
          <a:xfrm>
            <a:off x="255125" y="1198050"/>
            <a:ext cx="8014500" cy="32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 =  HyperText Transfer Protocol Secure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 transfer data over the internet with clear text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 encrypts data over the </a:t>
            </a:r>
            <a:r>
              <a:rPr lang="en" sz="1800"/>
              <a:t>internet</a:t>
            </a:r>
            <a:r>
              <a:rPr lang="en" sz="1800"/>
              <a:t> utilizing SSL/TLS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400"/>
              <a:t>                         (Include pic of HTTPS packet)</a:t>
            </a:r>
            <a:endParaRPr sz="2400"/>
          </a:p>
        </p:txBody>
      </p:sp>
      <p:sp>
        <p:nvSpPr>
          <p:cNvPr id="608" name="Google Shape;608;p72"/>
          <p:cNvSpPr txBox="1"/>
          <p:nvPr/>
        </p:nvSpPr>
        <p:spPr>
          <a:xfrm>
            <a:off x="223225" y="674250"/>
            <a:ext cx="7772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What’s the Difference?</a:t>
            </a:r>
            <a:endParaRPr b="1" sz="20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9" name="Google Shape;609;p72" title="Screenshot 2025-11-03 1543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25" y="2612750"/>
            <a:ext cx="8713398" cy="9726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3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 Versions</a:t>
            </a:r>
            <a:endParaRPr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graphicFrame>
        <p:nvGraphicFramePr>
          <p:cNvPr id="615" name="Google Shape;615;p73"/>
          <p:cNvGraphicFramePr/>
          <p:nvPr/>
        </p:nvGraphicFramePr>
        <p:xfrm>
          <a:off x="717050" y="1508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{A05207A3-7511-4F56-8A4A-290256EC4015}</a:tableStyleId>
              </a:tblPr>
              <a:tblGrid>
                <a:gridCol w="1927475"/>
                <a:gridCol w="1927475"/>
                <a:gridCol w="1927475"/>
                <a:gridCol w="1927475"/>
              </a:tblGrid>
              <a:tr h="28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ExtraBold"/>
                          <a:ea typeface="Roboto ExtraBold"/>
                          <a:cs typeface="Roboto ExtraBold"/>
                          <a:sym typeface="Roboto ExtraBold"/>
                        </a:rPr>
                        <a:t>HTTP 1.0</a:t>
                      </a:r>
                      <a:endParaRPr>
                        <a:latin typeface="Roboto ExtraBold"/>
                        <a:ea typeface="Roboto ExtraBold"/>
                        <a:cs typeface="Roboto ExtraBold"/>
                        <a:sym typeface="Roboto ExtraBol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ExtraBold"/>
                          <a:ea typeface="Roboto ExtraBold"/>
                          <a:cs typeface="Roboto ExtraBold"/>
                          <a:sym typeface="Roboto ExtraBold"/>
                        </a:rPr>
                        <a:t>HTTP 1.1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ExtraBold"/>
                          <a:ea typeface="Roboto ExtraBold"/>
                          <a:cs typeface="Roboto ExtraBold"/>
                          <a:sym typeface="Roboto ExtraBold"/>
                        </a:rPr>
                        <a:t>HTTP 2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ExtraBold"/>
                          <a:ea typeface="Roboto ExtraBold"/>
                          <a:cs typeface="Roboto ExtraBold"/>
                          <a:sym typeface="Roboto ExtraBold"/>
                        </a:rPr>
                        <a:t>HTTP 3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182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- First Version</a:t>
                      </a:r>
                      <a:endParaRPr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- Status Codes</a:t>
                      </a:r>
                      <a:endParaRPr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- Content Types</a:t>
                      </a:r>
                      <a:endParaRPr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- HTTP Methods</a:t>
                      </a:r>
                      <a:endParaRPr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- Still Common 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- Can use a single TCP connection Multiple times AKA Connection: Keep-Alive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- Binary Protocol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- Can send multiple requests at a time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- Uses QUIC protocol (Runs over UDP)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- Faster Connections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- Automatically encrypts all data</a:t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4"/>
          <p:cNvSpPr txBox="1"/>
          <p:nvPr/>
        </p:nvSpPr>
        <p:spPr>
          <a:xfrm>
            <a:off x="902400" y="1810200"/>
            <a:ext cx="7339200" cy="15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5. WireShark CTF</a:t>
            </a:r>
            <a:endParaRPr b="1" sz="6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5"/>
          <p:cNvSpPr txBox="1"/>
          <p:nvPr>
            <p:ph type="title"/>
          </p:nvPr>
        </p:nvSpPr>
        <p:spPr>
          <a:xfrm>
            <a:off x="-792895" y="-497845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6. 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ATTENDANCE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75"/>
          <p:cNvSpPr/>
          <p:nvPr/>
        </p:nvSpPr>
        <p:spPr>
          <a:xfrm>
            <a:off x="4862950" y="1100150"/>
            <a:ext cx="3874200" cy="3857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7" name="Google Shape;627;p75" title="yhek3kbx-4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3297" y="1242449"/>
            <a:ext cx="3500400" cy="35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